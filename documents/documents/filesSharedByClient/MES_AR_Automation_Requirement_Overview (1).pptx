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" userId="5c62f728-9fd8-49c1-9f44-44d73b43d714" providerId="ADAL" clId="{15B2785C-9A47-4A15-9329-C490D77C557D}"/>
    <pc:docChg chg="undo custSel delSld modSld">
      <pc:chgData name="Raman" userId="5c62f728-9fd8-49c1-9f44-44d73b43d714" providerId="ADAL" clId="{15B2785C-9A47-4A15-9329-C490D77C557D}" dt="2026-08-11T07:11:39.597" v="1469" actId="47"/>
      <pc:docMkLst>
        <pc:docMk/>
      </pc:docMkLst>
      <pc:sldChg chg="addSp delSp modSp mod">
        <pc:chgData name="Raman" userId="5c62f728-9fd8-49c1-9f44-44d73b43d714" providerId="ADAL" clId="{15B2785C-9A47-4A15-9329-C490D77C557D}" dt="2026-08-09T02:42:53.456" v="643" actId="14100"/>
        <pc:sldMkLst>
          <pc:docMk/>
          <pc:sldMk cId="0" sldId="256"/>
        </pc:sldMkLst>
        <pc:picChg chg="add mod">
          <ac:chgData name="Raman" userId="5c62f728-9fd8-49c1-9f44-44d73b43d714" providerId="ADAL" clId="{15B2785C-9A47-4A15-9329-C490D77C557D}" dt="2026-08-09T02:42:53.456" v="643" actId="14100"/>
          <ac:picMkLst>
            <pc:docMk/>
            <pc:sldMk cId="0" sldId="256"/>
            <ac:picMk id="19" creationId="{67712CD3-4CB4-C2BE-CF8D-B651243ADA8D}"/>
          </ac:picMkLst>
        </pc:picChg>
      </pc:sldChg>
      <pc:sldChg chg="addSp mod modShow">
        <pc:chgData name="Raman" userId="5c62f728-9fd8-49c1-9f44-44d73b43d714" providerId="ADAL" clId="{15B2785C-9A47-4A15-9329-C490D77C557D}" dt="2026-08-11T07:10:47.990" v="1360" actId="34476"/>
        <pc:sldMkLst>
          <pc:docMk/>
          <pc:sldMk cId="0" sldId="257"/>
        </pc:sldMkLst>
        <pc:picChg chg="add">
          <ac:chgData name="Raman" userId="5c62f728-9fd8-49c1-9f44-44d73b43d714" providerId="ADAL" clId="{15B2785C-9A47-4A15-9329-C490D77C557D}" dt="2026-08-09T02:42:56.968" v="644" actId="22"/>
          <ac:picMkLst>
            <pc:docMk/>
            <pc:sldMk cId="0" sldId="257"/>
            <ac:picMk id="22" creationId="{5A04F337-EEE0-6153-A7C7-7719870125CC}"/>
          </ac:picMkLst>
        </pc:picChg>
      </pc:sldChg>
      <pc:sldChg chg="addSp modSp mod">
        <pc:chgData name="Raman" userId="5c62f728-9fd8-49c1-9f44-44d73b43d714" providerId="ADAL" clId="{15B2785C-9A47-4A15-9329-C490D77C557D}" dt="2026-08-11T07:08:07.970" v="1239" actId="20577"/>
        <pc:sldMkLst>
          <pc:docMk/>
          <pc:sldMk cId="0" sldId="258"/>
        </pc:sldMkLst>
        <pc:spChg chg="mod">
          <ac:chgData name="Raman" userId="5c62f728-9fd8-49c1-9f44-44d73b43d714" providerId="ADAL" clId="{15B2785C-9A47-4A15-9329-C490D77C557D}" dt="2026-08-11T07:04:16.809" v="944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07.970" v="1239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0:31.824" v="911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5:09.011" v="983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5:22.096" v="1006" actId="20577"/>
          <ac:spMkLst>
            <pc:docMk/>
            <pc:sldMk cId="0" sldId="258"/>
            <ac:spMk id="23" creationId="{00000000-0000-0000-0000-000000000000}"/>
          </ac:spMkLst>
        </pc:spChg>
        <pc:picChg chg="add">
          <ac:chgData name="Raman" userId="5c62f728-9fd8-49c1-9f44-44d73b43d714" providerId="ADAL" clId="{15B2785C-9A47-4A15-9329-C490D77C557D}" dt="2026-08-09T02:43:01.900" v="645" actId="22"/>
          <ac:picMkLst>
            <pc:docMk/>
            <pc:sldMk cId="0" sldId="258"/>
            <ac:picMk id="27" creationId="{9FDF1137-8C51-ED2A-40A6-E0F63C725DE4}"/>
          </ac:picMkLst>
        </pc:picChg>
      </pc:sldChg>
      <pc:sldChg chg="addSp modSp mod">
        <pc:chgData name="Raman" userId="5c62f728-9fd8-49c1-9f44-44d73b43d714" providerId="ADAL" clId="{15B2785C-9A47-4A15-9329-C490D77C557D}" dt="2026-08-11T07:07:57.571" v="1229" actId="20577"/>
        <pc:sldMkLst>
          <pc:docMk/>
          <pc:sldMk cId="0" sldId="259"/>
        </pc:sldMkLst>
        <pc:spChg chg="mod">
          <ac:chgData name="Raman" userId="5c62f728-9fd8-49c1-9f44-44d73b43d714" providerId="ADAL" clId="{15B2785C-9A47-4A15-9329-C490D77C557D}" dt="2026-08-11T07:05:39.959" v="1027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7:57.571" v="1229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6:29.739" v="1162" actId="20577"/>
          <ac:spMkLst>
            <pc:docMk/>
            <pc:sldMk cId="0" sldId="259"/>
            <ac:spMk id="35" creationId="{00000000-0000-0000-0000-000000000000}"/>
          </ac:spMkLst>
        </pc:spChg>
        <pc:picChg chg="add mod">
          <ac:chgData name="Raman" userId="5c62f728-9fd8-49c1-9f44-44d73b43d714" providerId="ADAL" clId="{15B2785C-9A47-4A15-9329-C490D77C557D}" dt="2026-08-09T02:43:04.920" v="647" actId="1036"/>
          <ac:picMkLst>
            <pc:docMk/>
            <pc:sldMk cId="0" sldId="259"/>
            <ac:picMk id="39" creationId="{24D2FB52-CC78-B6BE-19DA-4624A1C50693}"/>
          </ac:picMkLst>
        </pc:picChg>
      </pc:sldChg>
      <pc:sldChg chg="addSp delSp modSp mod">
        <pc:chgData name="Raman" userId="5c62f728-9fd8-49c1-9f44-44d73b43d714" providerId="ADAL" clId="{15B2785C-9A47-4A15-9329-C490D77C557D}" dt="2026-08-11T07:09:18.723" v="1304" actId="20577"/>
        <pc:sldMkLst>
          <pc:docMk/>
          <pc:sldMk cId="0" sldId="260"/>
        </pc:sldMkLst>
        <pc:spChg chg="del mod">
          <ac:chgData name="Raman" userId="5c62f728-9fd8-49c1-9f44-44d73b43d714" providerId="ADAL" clId="{15B2785C-9A47-4A15-9329-C490D77C557D}" dt="2026-08-11T07:06:54.561" v="1163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Raman" userId="5c62f728-9fd8-49c1-9f44-44d73b43d714" providerId="ADAL" clId="{15B2785C-9A47-4A15-9329-C490D77C557D}" dt="2026-08-11T07:07:01.516" v="1167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Raman" userId="5c62f728-9fd8-49c1-9f44-44d73b43d714" providerId="ADAL" clId="{15B2785C-9A47-4A15-9329-C490D77C557D}" dt="2026-08-11T07:07:00.164" v="1166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Raman" userId="5c62f728-9fd8-49c1-9f44-44d73b43d714" providerId="ADAL" clId="{15B2785C-9A47-4A15-9329-C490D77C557D}" dt="2026-08-11T07:06:58.569" v="1165" actId="478"/>
          <ac:spMkLst>
            <pc:docMk/>
            <pc:sldMk cId="0" sldId="260"/>
            <ac:spMk id="11" creationId="{00000000-0000-0000-0000-000000000000}"/>
          </ac:spMkLst>
        </pc:spChg>
        <pc:spChg chg="del mod">
          <ac:chgData name="Raman" userId="5c62f728-9fd8-49c1-9f44-44d73b43d714" providerId="ADAL" clId="{15B2785C-9A47-4A15-9329-C490D77C557D}" dt="2026-08-11T07:06:56.933" v="1164" actId="478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7:10.686" v="1168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7:10.686" v="1168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7:14.040" v="1170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7:10.686" v="1168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7:41.262" v="1219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7:10.686" v="1168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7:10.686" v="1168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9:12.835" v="1300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7:10.686" v="1168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31.939" v="1295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2.272" v="1297" actId="1410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2.272" v="1297" actId="1410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9:15.774" v="1302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2.272" v="1297" actId="1410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2.272" v="1297" actId="14100"/>
          <ac:spMkLst>
            <pc:docMk/>
            <pc:sldMk cId="0" sldId="260"/>
            <ac:spMk id="27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9.904" v="1298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9.904" v="1298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9:18.723" v="1304" actId="20577"/>
          <ac:spMkLst>
            <pc:docMk/>
            <pc:sldMk cId="0" sldId="260"/>
            <ac:spMk id="30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9.904" v="1298" actId="107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9.904" v="1298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9.904" v="1298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9.904" v="1298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8:59.904" v="1298" actId="1076"/>
          <ac:spMkLst>
            <pc:docMk/>
            <pc:sldMk cId="0" sldId="260"/>
            <ac:spMk id="35" creationId="{00000000-0000-0000-0000-000000000000}"/>
          </ac:spMkLst>
        </pc:spChg>
        <pc:picChg chg="add mod">
          <ac:chgData name="Raman" userId="5c62f728-9fd8-49c1-9f44-44d73b43d714" providerId="ADAL" clId="{15B2785C-9A47-4A15-9329-C490D77C557D}" dt="2026-08-09T02:43:19.442" v="670" actId="1038"/>
          <ac:picMkLst>
            <pc:docMk/>
            <pc:sldMk cId="0" sldId="260"/>
            <ac:picMk id="39" creationId="{812A6177-2EBB-50A8-BE75-1DBB7560F90B}"/>
          </ac:picMkLst>
        </pc:picChg>
      </pc:sldChg>
      <pc:sldChg chg="addSp modSp mod">
        <pc:chgData name="Raman" userId="5c62f728-9fd8-49c1-9f44-44d73b43d714" providerId="ADAL" clId="{15B2785C-9A47-4A15-9329-C490D77C557D}" dt="2026-08-11T07:09:41.447" v="1339" actId="20577"/>
        <pc:sldMkLst>
          <pc:docMk/>
          <pc:sldMk cId="0" sldId="261"/>
        </pc:sldMkLst>
        <pc:spChg chg="mod">
          <ac:chgData name="Raman" userId="5c62f728-9fd8-49c1-9f44-44d73b43d714" providerId="ADAL" clId="{15B2785C-9A47-4A15-9329-C490D77C557D}" dt="2026-08-11T07:09:25.483" v="1306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9:30.414" v="1308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9:33.020" v="1310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Raman" userId="5c62f728-9fd8-49c1-9f44-44d73b43d714" providerId="ADAL" clId="{15B2785C-9A47-4A15-9329-C490D77C557D}" dt="2026-08-11T07:09:41.447" v="1339" actId="20577"/>
          <ac:spMkLst>
            <pc:docMk/>
            <pc:sldMk cId="0" sldId="261"/>
            <ac:spMk id="22" creationId="{00000000-0000-0000-0000-000000000000}"/>
          </ac:spMkLst>
        </pc:spChg>
        <pc:picChg chg="add">
          <ac:chgData name="Raman" userId="5c62f728-9fd8-49c1-9f44-44d73b43d714" providerId="ADAL" clId="{15B2785C-9A47-4A15-9329-C490D77C557D}" dt="2026-08-09T02:43:23.262" v="671" actId="22"/>
          <ac:picMkLst>
            <pc:docMk/>
            <pc:sldMk cId="0" sldId="261"/>
            <ac:picMk id="31" creationId="{32323EB4-6558-6E41-E926-240FC1356781}"/>
          </ac:picMkLst>
        </pc:picChg>
      </pc:sldChg>
      <pc:sldChg chg="addSp mod modShow">
        <pc:chgData name="Raman" userId="5c62f728-9fd8-49c1-9f44-44d73b43d714" providerId="ADAL" clId="{15B2785C-9A47-4A15-9329-C490D77C557D}" dt="2026-08-11T07:10:42.702" v="1359" actId="34476"/>
        <pc:sldMkLst>
          <pc:docMk/>
          <pc:sldMk cId="0" sldId="262"/>
        </pc:sldMkLst>
        <pc:picChg chg="add">
          <ac:chgData name="Raman" userId="5c62f728-9fd8-49c1-9f44-44d73b43d714" providerId="ADAL" clId="{15B2785C-9A47-4A15-9329-C490D77C557D}" dt="2026-08-09T02:43:25.692" v="672" actId="22"/>
          <ac:picMkLst>
            <pc:docMk/>
            <pc:sldMk cId="0" sldId="262"/>
            <ac:picMk id="19" creationId="{5D69A146-FA86-91EE-1BF6-02559EDF405F}"/>
          </ac:picMkLst>
        </pc:picChg>
      </pc:sldChg>
      <pc:sldChg chg="addSp modSp mod modShow">
        <pc:chgData name="Raman" userId="5c62f728-9fd8-49c1-9f44-44d73b43d714" providerId="ADAL" clId="{15B2785C-9A47-4A15-9329-C490D77C557D}" dt="2026-08-11T07:10:42.702" v="1359" actId="34476"/>
        <pc:sldMkLst>
          <pc:docMk/>
          <pc:sldMk cId="0" sldId="263"/>
        </pc:sldMkLst>
        <pc:spChg chg="mod">
          <ac:chgData name="Raman" userId="5c62f728-9fd8-49c1-9f44-44d73b43d714" providerId="ADAL" clId="{15B2785C-9A47-4A15-9329-C490D77C557D}" dt="2026-08-11T07:10:15.873" v="1357" actId="20577"/>
          <ac:spMkLst>
            <pc:docMk/>
            <pc:sldMk cId="0" sldId="263"/>
            <ac:spMk id="7" creationId="{00000000-0000-0000-0000-000000000000}"/>
          </ac:spMkLst>
        </pc:spChg>
        <pc:picChg chg="add">
          <ac:chgData name="Raman" userId="5c62f728-9fd8-49c1-9f44-44d73b43d714" providerId="ADAL" clId="{15B2785C-9A47-4A15-9329-C490D77C557D}" dt="2026-08-09T02:43:27.974" v="673" actId="22"/>
          <ac:picMkLst>
            <pc:docMk/>
            <pc:sldMk cId="0" sldId="263"/>
            <ac:picMk id="15" creationId="{ABA4D2DE-9146-81F9-9C8B-626D8DE2AFA0}"/>
          </ac:picMkLst>
        </pc:picChg>
      </pc:sldChg>
      <pc:sldChg chg="addSp mod modShow">
        <pc:chgData name="Raman" userId="5c62f728-9fd8-49c1-9f44-44d73b43d714" providerId="ADAL" clId="{15B2785C-9A47-4A15-9329-C490D77C557D}" dt="2026-08-11T07:10:42.702" v="1359" actId="34476"/>
        <pc:sldMkLst>
          <pc:docMk/>
          <pc:sldMk cId="0" sldId="264"/>
        </pc:sldMkLst>
        <pc:picChg chg="add">
          <ac:chgData name="Raman" userId="5c62f728-9fd8-49c1-9f44-44d73b43d714" providerId="ADAL" clId="{15B2785C-9A47-4A15-9329-C490D77C557D}" dt="2026-08-09T02:43:30.798" v="674" actId="22"/>
          <ac:picMkLst>
            <pc:docMk/>
            <pc:sldMk cId="0" sldId="264"/>
            <ac:picMk id="22" creationId="{31149110-4C42-5A34-D4B8-B4A938F344CA}"/>
          </ac:picMkLst>
        </pc:picChg>
      </pc:sldChg>
      <pc:sldChg chg="addSp mod">
        <pc:chgData name="Raman" userId="5c62f728-9fd8-49c1-9f44-44d73b43d714" providerId="ADAL" clId="{15B2785C-9A47-4A15-9329-C490D77C557D}" dt="2026-08-09T02:43:33.550" v="675" actId="22"/>
        <pc:sldMkLst>
          <pc:docMk/>
          <pc:sldMk cId="0" sldId="265"/>
        </pc:sldMkLst>
        <pc:picChg chg="add">
          <ac:chgData name="Raman" userId="5c62f728-9fd8-49c1-9f44-44d73b43d714" providerId="ADAL" clId="{15B2785C-9A47-4A15-9329-C490D77C557D}" dt="2026-08-09T02:43:33.550" v="675" actId="22"/>
          <ac:picMkLst>
            <pc:docMk/>
            <pc:sldMk cId="0" sldId="265"/>
            <ac:picMk id="31" creationId="{307E9C79-AD84-6C41-3638-1DDFD717A8B6}"/>
          </ac:picMkLst>
        </pc:picChg>
      </pc:sldChg>
      <pc:sldChg chg="addSp mod modShow">
        <pc:chgData name="Raman" userId="5c62f728-9fd8-49c1-9f44-44d73b43d714" providerId="ADAL" clId="{15B2785C-9A47-4A15-9329-C490D77C557D}" dt="2026-08-11T07:10:34.397" v="1358" actId="34476"/>
        <pc:sldMkLst>
          <pc:docMk/>
          <pc:sldMk cId="0" sldId="266"/>
        </pc:sldMkLst>
        <pc:picChg chg="add">
          <ac:chgData name="Raman" userId="5c62f728-9fd8-49c1-9f44-44d73b43d714" providerId="ADAL" clId="{15B2785C-9A47-4A15-9329-C490D77C557D}" dt="2026-08-09T02:43:35.575" v="676" actId="22"/>
          <ac:picMkLst>
            <pc:docMk/>
            <pc:sldMk cId="0" sldId="266"/>
            <ac:picMk id="35" creationId="{0E22031D-28BA-8750-14FC-B69D71B83E0E}"/>
          </ac:picMkLst>
        </pc:picChg>
      </pc:sldChg>
      <pc:sldChg chg="addSp modSp del mod">
        <pc:chgData name="Raman" userId="5c62f728-9fd8-49c1-9f44-44d73b43d714" providerId="ADAL" clId="{15B2785C-9A47-4A15-9329-C490D77C557D}" dt="2026-08-11T07:11:39.597" v="1469" actId="47"/>
        <pc:sldMkLst>
          <pc:docMk/>
          <pc:sldMk cId="0" sldId="267"/>
        </pc:sldMkLst>
        <pc:spChg chg="mod">
          <ac:chgData name="Raman" userId="5c62f728-9fd8-49c1-9f44-44d73b43d714" providerId="ADAL" clId="{15B2785C-9A47-4A15-9329-C490D77C557D}" dt="2026-08-11T07:11:34.573" v="1468" actId="20577"/>
          <ac:spMkLst>
            <pc:docMk/>
            <pc:sldMk cId="0" sldId="267"/>
            <ac:spMk id="5" creationId="{00000000-0000-0000-0000-000000000000}"/>
          </ac:spMkLst>
        </pc:spChg>
        <pc:picChg chg="add">
          <ac:chgData name="Raman" userId="5c62f728-9fd8-49c1-9f44-44d73b43d714" providerId="ADAL" clId="{15B2785C-9A47-4A15-9329-C490D77C557D}" dt="2026-08-09T02:43:37.805" v="677" actId="22"/>
          <ac:picMkLst>
            <pc:docMk/>
            <pc:sldMk cId="0" sldId="267"/>
            <ac:picMk id="10" creationId="{E49E6243-0382-2293-8922-6455C80560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03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474720"/>
            <a:ext cx="3291840" cy="329184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0332720" y="4937760"/>
            <a:ext cx="2011680" cy="201168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9052560" y="5486400"/>
            <a:ext cx="1280160" cy="128016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OVERVIEW  ·  REVISED PROPOSAL V2.0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Upload-driven AR reconciliation, reminders &amp; collections workflow for MES Group's dormitory accounts-receivable process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623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5870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Group (Mini Environment Service Pte Ltd)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5623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71800" y="5870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DeVinci Codes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5623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0" y="5870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Jun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01000" y="5623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01000" y="5870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7712CD3-4CB4-C2BE-CF8D-B651243AD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6610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135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233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$2,600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development cost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5104" y="1737360"/>
            <a:ext cx="26135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3482264" y="2057400"/>
            <a:ext cx="233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482264" y="28803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 timeline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37360"/>
            <a:ext cx="26135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6370168" y="2057400"/>
            <a:ext cx="233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Tranches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370168" y="28803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split 50% / 50%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20911" y="1737360"/>
            <a:ext cx="26135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9258071" y="2057400"/>
            <a:ext cx="233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Integrations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258071" y="28803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export only — no live system link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77295" cy="1737360"/>
          </a:xfrm>
          <a:prstGeom prst="roundRect">
            <a:avLst>
              <a:gd name="adj" fmla="val 421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IN ONE LINE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integration into MES's in-house systems. The CSD officer extracts the AR Report and the DBS Bulk Collection Report and uploads both. The platform parses, matches, queues, drafts and reports — producing clean exports for manual re-upload into NetSuite. Tenant data stays entirely inside MES's control.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A04F337-EEE0-6153-A7C7-771987012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6610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— What the System Must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389888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8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709928"/>
            <a:ext cx="476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AR Report on or after billing date of 15</a:t>
            </a:r>
            <a:r>
              <a:rPr lang="en-US" sz="1250" baseline="3000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every month(Billing period – 30 day credit). User can upload any dates after that that too.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035808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8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3355848"/>
            <a:ext cx="476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the AR by the different property, revenue type &amp; Live/Terminated status etc..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681728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8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3000" y="5001768"/>
            <a:ext cx="476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&amp; send the correct reminder (7th) and final notice (21st) per tenant profile, using configurable templates for the specific Billing period.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8728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27872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64528" y="1389888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8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64528" y="1709928"/>
            <a:ext cx="476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prioritised calling list from 7</a:t>
            </a:r>
            <a:r>
              <a:rPr lang="en-US" sz="1250" baseline="3000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30 days credit period, follow-up with a manual call-capture form as the audited path.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627872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64528" y="3035808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8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64528" y="3355848"/>
            <a:ext cx="476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promise-to-pay as structured, dated records and surface recurring-defaulter patterns.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FDF1137-8C51-ED2A-40A6-E0F63C725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6610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Reconciliation Works — Upload › Process › Export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into MES's in-house systems. CSD extracts two reports and uploads them; the platform parses, matches, queues, drafts and reports — then produces clean exports for manual re-upload into NetSuite.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999427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1200882" y="2194560"/>
            <a:ext cx="512064" cy="512064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120088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283464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3172968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 uploads the AR Report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56627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76667" y="1965960"/>
            <a:ext cx="1999427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3520349" y="2194560"/>
            <a:ext cx="512064" cy="512064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3520349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6395" y="283464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Match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04683" y="3172968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by Property, Revenue Type </a:t>
            </a:r>
            <a:r>
              <a:rPr lang="en-US" sz="1050" dirty="0" err="1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76094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96134" y="1965960"/>
            <a:ext cx="1999427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5839816" y="2194560"/>
            <a:ext cx="512064" cy="512064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5839816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05862" y="283464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&amp; Queue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24150" y="3172968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aging board, collections queue, reminder sequence &amp; drafts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95561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15601" y="1965960"/>
            <a:ext cx="1999427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2"/>
          <p:cNvSpPr/>
          <p:nvPr/>
        </p:nvSpPr>
        <p:spPr>
          <a:xfrm>
            <a:off x="8159283" y="2194560"/>
            <a:ext cx="512064" cy="512064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8159283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25329" y="283464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Call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43617" y="3172968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sends reminders, calls tenants, logs post-call status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15028" y="2651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735068" y="1965960"/>
            <a:ext cx="1999427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28"/>
          <p:cNvSpPr/>
          <p:nvPr/>
        </p:nvSpPr>
        <p:spPr>
          <a:xfrm>
            <a:off x="10478750" y="2194560"/>
            <a:ext cx="512064" cy="512064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10478750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4796" y="2834640"/>
            <a:ext cx="1779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Export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63084" y="3172968"/>
            <a:ext cx="17433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activity captured &amp; exported clean for NetSuite upload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343400"/>
            <a:ext cx="11277295" cy="1417320"/>
          </a:xfrm>
          <a:prstGeom prst="roundRect">
            <a:avLst>
              <a:gd name="adj" fmla="val 3871"/>
            </a:avLst>
          </a:prstGeom>
          <a:solidFill>
            <a:srgbClr val="FCEFD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731520" y="452628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confirmation:  </a:t>
            </a: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 not connect to the bank in real time. A promise-to-pay is logged at the call; final confirmation comes from the next AR Report Billing period.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4D2FB52-CC78-B6BE-19DA-4624A1C50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74734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Reconciliation, Data &amp; Collections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589520" y="457200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Data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921240" y="457200"/>
            <a:ext cx="128016" cy="128016"/>
          </a:xfrm>
          <a:prstGeom prst="rect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10104120" y="384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Communication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3464" y="1426464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543464" y="1426464"/>
            <a:ext cx="54864" cy="1965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744632" y="1554480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4632" y="1810512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4632" y="2203704"/>
            <a:ext cx="32104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15</a:t>
            </a:r>
            <a:r>
              <a:rPr lang="en-US" sz="1050" baseline="3000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 report after Billing Cycle</a:t>
            </a:r>
          </a:p>
          <a:p>
            <a:pPr marL="152400" indent="-1524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30 / 60 / 90 / 90+ buckets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property, revenue type, Live/Terminated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trigger line highlighted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94003" y="1426464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4394003" y="1426464"/>
            <a:ext cx="54864" cy="1965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4595171" y="1554480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5171" y="1810512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Revenue-Type Segmentation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95171" y="2203704"/>
            <a:ext cx="32104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rental, maintenance, admin fee, deposit, etc.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16011" y="1426987"/>
            <a:ext cx="3576218" cy="2017898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4" name="Shape 22"/>
          <p:cNvSpPr/>
          <p:nvPr/>
        </p:nvSpPr>
        <p:spPr>
          <a:xfrm>
            <a:off x="8316011" y="1426987"/>
            <a:ext cx="54864" cy="2017898"/>
          </a:xfrm>
          <a:prstGeom prst="rect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8517179" y="1555003"/>
            <a:ext cx="3210458" cy="305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17179" y="1811035"/>
            <a:ext cx="3210458" cy="436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Queue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17179" y="2204227"/>
            <a:ext cx="3210458" cy="927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prioritised action list per account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property, 1FM tag, revenue type, aging bucket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328" y="3888369"/>
            <a:ext cx="357621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9" name="Shape 27"/>
          <p:cNvSpPr/>
          <p:nvPr/>
        </p:nvSpPr>
        <p:spPr>
          <a:xfrm>
            <a:off x="598328" y="3888369"/>
            <a:ext cx="54864" cy="1691640"/>
          </a:xfrm>
          <a:prstGeom prst="rect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799496" y="4016385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9496" y="4272417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Drafting &amp; Review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9496" y="4665609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templates for 7th reminder / 21st final notice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preview + edit + send — human in the loop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48867" y="3888369"/>
            <a:ext cx="3576218" cy="1691640"/>
          </a:xfrm>
          <a:prstGeom prst="roundRect">
            <a:avLst>
              <a:gd name="adj" fmla="val 3243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4650035" y="4052961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50035" y="4391289"/>
            <a:ext cx="31738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reminder is drafted, previewed and approved by the CSD officer before anything is sent.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12A6177-2EBB-50A8-BE75-1DBB7560F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551" y="3671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(CONTINUED)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Insights, Reporting &amp; Admin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589520" y="457200"/>
            <a:ext cx="128016" cy="128016"/>
          </a:xfrm>
          <a:prstGeom prst="rect">
            <a:avLst/>
          </a:prstGeom>
          <a:solidFill>
            <a:srgbClr val="1B8F9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772400" y="384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Reporting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738360" y="457200"/>
            <a:ext cx="128016" cy="128016"/>
          </a:xfrm>
          <a:prstGeom prst="rect">
            <a:avLst/>
          </a:prstGeom>
          <a:solidFill>
            <a:srgbClr val="5B4B9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9921240" y="384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Config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6035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" cy="1417320"/>
          </a:xfrm>
          <a:prstGeom prst="rect">
            <a:avLst/>
          </a:prstGeom>
          <a:solidFill>
            <a:srgbClr val="1B8F9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7190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Recurring-Defaulter Insights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202996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tenants whose GIRO repeatedly fails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CSD spot chronic-risk accounts early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6035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54864" cy="1600200"/>
          </a:xfrm>
          <a:prstGeom prst="rect">
            <a:avLst/>
          </a:prstGeom>
          <a:solidFill>
            <a:srgbClr val="1B8F9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58368" y="308152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3192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Reports  ·  pending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363016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Security-deposit reconciliation (Mondays)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Industry-segment analysis; RM balance logs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Source-document confirmation pending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6035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" cy="1600200"/>
          </a:xfrm>
          <a:prstGeom prst="rect">
            <a:avLst/>
          </a:prstGeom>
          <a:solidFill>
            <a:srgbClr val="5B4B9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658368" y="48646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51023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Late-Payment Fee Handling  ·  pending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" y="541324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overdue(Late Payment) accounts on the 16th</a:t>
            </a:r>
            <a:endParaRPr lang="en-US" sz="105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admin fee per MES rule (TBC)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4922215" cy="4709160"/>
          </a:xfrm>
          <a:prstGeom prst="roundRect">
            <a:avLst>
              <a:gd name="adj" fmla="val 1553"/>
            </a:avLst>
          </a:prstGeom>
          <a:solidFill>
            <a:srgbClr val="E5E1F5"/>
          </a:solidFill>
          <a:ln w="12700">
            <a:solidFill>
              <a:srgbClr val="5B4B9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7068312" y="1572768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68312" y="1828800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68312" y="2176272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workspace for the CSD team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68312" y="2560320"/>
            <a:ext cx="441015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Centre — DBS &amp; AR file upload, parsing &amp; batch summary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Board — buckets by property, revenue type, status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Queue — prioritised, filterable action list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Drafting &amp; Review — template, edit, send, preview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List &amp; Call Log — mid-month list + capture form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Promise-to-Pay Tracker — dated commitments, auto follow-up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Recurring-Defaulter View — chronic GIRO-failure accounts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 — recurring reports + clean NetSuite exports</a:t>
            </a:r>
            <a:endParaRPr lang="en-US" sz="1150" dirty="0"/>
          </a:p>
          <a:p>
            <a:pPr marL="152400" indent="-1524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Audit Trail — CSD, RM, Management roles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2323EB4-6558-6E41-E926-240FC1356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6610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Follow-Up Calls (14th–15th)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55768" cy="4663440"/>
          </a:xfrm>
          <a:prstGeom prst="roundRect">
            <a:avLst>
              <a:gd name="adj" fmla="val 1569"/>
            </a:avLst>
          </a:prstGeom>
          <a:solidFill>
            <a:srgbClr val="DCF5EA"/>
          </a:solidFill>
          <a:ln w="15875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PATH · IN SCOPE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Call-Log Capture Form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4907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calls from existing MES landline/mobile — no per-minute telephony cost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pre-filled with client, amount owed, deduction-fail date, aging bucket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who was reached, what was agreed, and the next action date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logged to the same audit trail, exportable for NetSuite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54406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the $2,600 development scope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417320"/>
            <a:ext cx="5455768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587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6553048" y="169164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8A8D98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553048" y="16916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ADD-ON · GO/NO-GO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53048" y="21945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 (Vapi + Twilio)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53048" y="2743200"/>
            <a:ext cx="4907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calls from a recognised Singapore caller ID, discloses itself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amount owed, conveys the reminder, logs promise-to-pay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plan: ~$0.15/min pay-as-you-go, transcripts retained ~14 days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Retention plan: ~$1,000/mo flat, no recording/transcript at any layer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53048" y="525780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the manual form; add the voice agent as a costed change request if call volumes justify it.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69A146-FA86-91EE-1BF6-02559EDF4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6610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Predictive &amp; Prescriptive Analytics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the system is in production and time-series data accumulates. Exact dashboards are agreed jointly with MES once enough data exists to be meaningful — representative examples only.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55768" cy="3108960"/>
          </a:xfrm>
          <a:prstGeom prst="roundRect">
            <a:avLst>
              <a:gd name="adj" fmla="val 2353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— what is likely to happen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clients / sectors are likely to keep defaulting, based on historical  payment patterns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that are deteriorating vs. improving over time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at rising risk of crossing into 60/90+ aging buckets before they 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455768" cy="3108960"/>
          </a:xfrm>
          <a:prstGeom prst="roundRect">
            <a:avLst>
              <a:gd name="adj" fmla="val 2353"/>
            </a:avLst>
          </a:prstGeom>
          <a:solidFill>
            <a:srgbClr val="FCE6DA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553048" y="2130552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— what to do about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3048" y="2606040"/>
            <a:ext cx="490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which accounts to prioritise for calls versus email-only follow-up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the best follow-up timing and channel for each risk segment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clients whose collection performance has improved, so effort can be redirected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52578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note: the pilot establishes the data foundation only — the analytics layer is built on top once production data exists, to avoid premature assumptions.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A4D2DE-9146-81F9-9C8B-626D8DE2A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6610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Hosting &amp; 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storage:  </a:t>
            </a: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(ISO 27001, SOC 2 Type 2, GDPR-aligned) on PostgreSQL with Row-Level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039112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 </a:t>
            </a: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&amp; backend via SSH, PM2 + Nginx, firewalls enabled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660904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 </a:t>
            </a: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(CSD / RM / Management) with a full audit log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282696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models:  </a:t>
            </a: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with Zero Data Retention — MES data never used for training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904488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engine:  </a:t>
            </a: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self-hosted on the MES-owned VPS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control:  </a:t>
            </a: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rest; no live connection into MES in-house systems required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239512"/>
            <a:ext cx="1248156" cy="329184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457200" y="5239512"/>
            <a:ext cx="12481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VPS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42516" y="5239512"/>
            <a:ext cx="726948" cy="329184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1842516" y="5239512"/>
            <a:ext cx="7269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06624" y="5239512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2706624" y="5239512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96996" y="5239512"/>
            <a:ext cx="2724912" cy="329184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3396996" y="523951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MES-owned production hosting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417320"/>
          <a:ext cx="4830776" cy="2100580"/>
        </p:xfrm>
        <a:graphic>
          <a:graphicData uri="http://schemas.openxmlformats.org/drawingml/2006/table">
            <a:tbl>
              <a:tblPr/>
              <a:tblGrid>
                <a:gridCol w="2028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D66"/>
                          </a:solidFill>
                        </a:rPr>
                        <a:t>Frontend + Backend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7272A"/>
                          </a:solidFill>
                        </a:rPr>
                        <a:t>Next.js 14 + TypeScript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D66"/>
                          </a:solidFill>
                        </a:rPr>
                        <a:t>Automation Engine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7272A"/>
                          </a:solidFill>
                        </a:rPr>
                        <a:t>n8n (open source, self-hosted)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D66"/>
                          </a:solidFill>
                        </a:rPr>
                        <a:t>Database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7272A"/>
                          </a:solidFill>
                        </a:rPr>
                        <a:t>Supabase (PostgreSQL)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D66"/>
                          </a:solidFill>
                        </a:rPr>
                        <a:t>AI / LLM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7272A"/>
                          </a:solidFill>
                        </a:rPr>
                        <a:t>OpenAI, Zero Data Retention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D66"/>
                          </a:solidFill>
                        </a:rPr>
                        <a:t>Voice Agent (optional)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7272A"/>
                          </a:solidFill>
                        </a:rPr>
                        <a:t>Vapi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D66"/>
                          </a:solidFill>
                        </a:rPr>
                        <a:t>Telephony (optional)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7272A"/>
                          </a:solidFill>
                        </a:rPr>
                        <a:t>Twilio (Singapore DID)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5D66"/>
                          </a:solidFill>
                        </a:rPr>
                        <a:t>Hosting (pilot/test)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7272A"/>
                          </a:solidFill>
                        </a:rPr>
                        <a:t>DeVinci server; production owned by MES</a:t>
                      </a:r>
                      <a:endParaRPr lang="en-US" sz="1050" dirty="0"/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1149110-4C42-5A34-D4B8-B4A938F34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6610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 &amp; Timeline (8 Weeks)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0180015" cy="0"/>
          </a:xfrm>
          <a:prstGeom prst="line">
            <a:avLst/>
          </a:prstGeom>
          <a:noFill/>
          <a:ln w="381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77824" y="224942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26334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Design Doc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4493" y="2249424"/>
            <a:ext cx="256032" cy="256032"/>
          </a:xfrm>
          <a:prstGeom prst="ellipse">
            <a:avLst/>
          </a:prstGeom>
          <a:solidFill>
            <a:srgbClr val="EB683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2016709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5269" y="26334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Prototype · MES sign-off gate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1162" y="224942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3713378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21938" y="26334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67832" y="224942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5410048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18608" y="26334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64501" y="224942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7106717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15277" y="26334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61170" y="224942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8803386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11946" y="26334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057839" y="224942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10500055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08615" y="263347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Stabilisation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FCEFD2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731520" y="47091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gate:  </a:t>
            </a: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proper begins only after the GUI prototype (Weeks 2–3) is signed off by MES.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07E9C79-AD84-6C41-3638-1DDFD717A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6610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&amp;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Milestones &amp; Handover Deliverables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638648" cy="868680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6095848" y="1371600"/>
            <a:ext cx="5638648" cy="868680"/>
          </a:xfrm>
          <a:prstGeom prst="roundRect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63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563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1 · PO issuance (kickoff) · 50%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5848" y="1481328"/>
            <a:ext cx="563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48" y="1874520"/>
            <a:ext cx="563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 · UAT sign-off · 50%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cost: 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$2,600</a:t>
            </a:r>
            <a:r>
              <a:rPr lang="en-US" sz="1150" dirty="0">
                <a:solidFill>
                  <a:srgbClr val="5B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30 days post-go-live bug-fix support included; AMC optional thereafter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DELIVERABLES (AT UAT)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2072579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310610" y="3813048"/>
            <a:ext cx="365760" cy="365760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131061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4297680"/>
            <a:ext cx="18531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application source 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58379" y="3611880"/>
            <a:ext cx="2072579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3611789" y="3813048"/>
            <a:ext cx="365760" cy="365760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3611789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68107" y="4297680"/>
            <a:ext cx="18531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Design Documents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59558" y="3611880"/>
            <a:ext cx="2072579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5912968" y="3813048"/>
            <a:ext cx="365760" cy="365760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591296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9286" y="4297680"/>
            <a:ext cx="18531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60737" y="3611880"/>
            <a:ext cx="2072579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3"/>
          <p:cNvSpPr/>
          <p:nvPr/>
        </p:nvSpPr>
        <p:spPr>
          <a:xfrm>
            <a:off x="8214147" y="3813048"/>
            <a:ext cx="365760" cy="365760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8214147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70465" y="4297680"/>
            <a:ext cx="18531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NetSuite export format spec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61916" y="3611880"/>
            <a:ext cx="2072579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Shape 27"/>
          <p:cNvSpPr/>
          <p:nvPr/>
        </p:nvSpPr>
        <p:spPr>
          <a:xfrm>
            <a:off x="10515326" y="3813048"/>
            <a:ext cx="365760" cy="365760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10515326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71644" y="4297680"/>
            <a:ext cx="18531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configuration docs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AR Automation System — Requirement Overview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E22031D-28BA-8750-14FC-B69D71B83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169" y="166108"/>
            <a:ext cx="726373" cy="4118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1458</Words>
  <Application>Microsoft Office PowerPoint</Application>
  <PresentationFormat>Widescreen</PresentationFormat>
  <Paragraphs>237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Raman</cp:lastModifiedBy>
  <cp:revision>1</cp:revision>
  <dcterms:created xsi:type="dcterms:W3CDTF">2026-08-07T14:00:27Z</dcterms:created>
  <dcterms:modified xsi:type="dcterms:W3CDTF">2026-08-11T07:11:42Z</dcterms:modified>
</cp:coreProperties>
</file>